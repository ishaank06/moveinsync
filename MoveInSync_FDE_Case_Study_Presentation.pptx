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a29f0e8a7234dde" /><Relationship Type="http://schemas.openxmlformats.org/officeDocument/2006/relationships/extended-properties" Target="/docProps/app.xml" Id="Re09ea30e7fc0413d" /><Relationship Type="http://schemas.openxmlformats.org/officeDocument/2006/relationships/officeDocument" Target="/ppt/presentation.xml" Id="Rc7a7f62a4dad4a3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5efc82727f5461c"/>
  </p:sldMasterIdLst>
  <p:notesMasterIdLst>
    <p:notesMasterId xmlns:r="http://schemas.openxmlformats.org/officeDocument/2006/relationships" r:id="R978350251fe140ee"/>
  </p:notesMasterIdLst>
  <p:sldIdLst>
    <p:sldId xmlns:r="http://schemas.openxmlformats.org/officeDocument/2006/relationships" id="256" r:id="Rf2da30c14bf34f09"/>
    <p:sldId xmlns:r="http://schemas.openxmlformats.org/officeDocument/2006/relationships" id="257" r:id="R8c51cd10e346448e"/>
    <p:sldId xmlns:r="http://schemas.openxmlformats.org/officeDocument/2006/relationships" id="258" r:id="Rb0e636ba26e94697"/>
    <p:sldId xmlns:r="http://schemas.openxmlformats.org/officeDocument/2006/relationships" id="259" r:id="Re87d79cc0daf45f7"/>
    <p:sldId xmlns:r="http://schemas.openxmlformats.org/officeDocument/2006/relationships" id="260" r:id="Rf559b87cb2e34113"/>
    <p:sldId xmlns:r="http://schemas.openxmlformats.org/officeDocument/2006/relationships" id="261" r:id="R38a9353eb10542a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45c24e31ce640be" /><Relationship Type="http://schemas.openxmlformats.org/officeDocument/2006/relationships/slideMaster" Target="/ppt/slideMasters/slideMaster1.xml" Id="Ra5efc82727f5461c" /><Relationship Type="http://schemas.openxmlformats.org/officeDocument/2006/relationships/notesMaster" Target="/ppt/notesMasters/notesMaster1.xml" Id="R978350251fe140ee" /><Relationship Type="http://schemas.openxmlformats.org/officeDocument/2006/relationships/presProps" Target="/ppt/presProps.xml" Id="Rd46377dbd5b94342" /><Relationship Type="http://schemas.openxmlformats.org/officeDocument/2006/relationships/tableStyles" Target="/ppt/tableStyles.xml" Id="Ra37c0efe9218481e" /><Relationship Type="http://schemas.openxmlformats.org/officeDocument/2006/relationships/slide" Target="/ppt/slides/slide1.xml" Id="Rf2da30c14bf34f09" /><Relationship Type="http://schemas.openxmlformats.org/officeDocument/2006/relationships/slide" Target="/ppt/slides/slide2.xml" Id="R8c51cd10e346448e" /><Relationship Type="http://schemas.openxmlformats.org/officeDocument/2006/relationships/slide" Target="/ppt/slides/slide3.xml" Id="Rb0e636ba26e94697" /><Relationship Type="http://schemas.openxmlformats.org/officeDocument/2006/relationships/slide" Target="/ppt/slides/slide4.xml" Id="Re87d79cc0daf45f7" /><Relationship Type="http://schemas.openxmlformats.org/officeDocument/2006/relationships/slide" Target="/ppt/slides/slide5.xml" Id="Rf559b87cb2e34113" /><Relationship Type="http://schemas.openxmlformats.org/officeDocument/2006/relationships/slide" Target="/ppt/slides/slide6.xml" Id="R38a9353eb10542a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813e93ec01249c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304d4f6312b4d19" /><Relationship Type="http://schemas.openxmlformats.org/officeDocument/2006/relationships/notesMaster" Target="/ppt/notesMasters/notesMaster1.xml" Id="Rada04742a3c34b9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50e267ebb414927" /><Relationship Type="http://schemas.openxmlformats.org/officeDocument/2006/relationships/notesMaster" Target="/ppt/notesMasters/notesMaster1.xml" Id="Re3c33ba8bf15472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dd8ea41dd06409f" /><Relationship Type="http://schemas.openxmlformats.org/officeDocument/2006/relationships/notesMaster" Target="/ppt/notesMasters/notesMaster1.xml" Id="Rf93904c4f2964b5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287bd4a30f742c3" /><Relationship Type="http://schemas.openxmlformats.org/officeDocument/2006/relationships/notesMaster" Target="/ppt/notesMasters/notesMaster1.xml" Id="Re99b4b52488043e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67b797037fc444b" /><Relationship Type="http://schemas.openxmlformats.org/officeDocument/2006/relationships/notesMaster" Target="/ppt/notesMasters/notesMaster1.xml" Id="Rcff50164128d456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305f2e7a801483c" /><Relationship Type="http://schemas.openxmlformats.org/officeDocument/2006/relationships/notesMaster" Target="/ppt/notesMasters/notesMaster1.xml" Id="Rced80208166e414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c79db95115b4fc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739ad6f82164bb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1b8929a23f481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3103b168eb64cd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37cd4c9f70e479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673825eaf0d41c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C73EF2A-BF5D-4219-8864-D1D080C273B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73CD65F1-5B68-4EDB-B396-2E6AB3A6724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C21F639D-FA39-4E00-B681-2E8C384F2FB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CE60036-D32D-438A-BA49-52290A9DB07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61A9262-8526-4FF7-86C1-F7004E14FBE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5869DF7-6C5D-478C-88BA-17678DE8215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5CF1BC8-5AE5-4B18-89B5-E58495E5335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31707477-3FD9-4028-9FD9-B9E71138EB9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F2DA487-DDFB-44AB-A9D6-ED8F36DF6D5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23FD54D-1D37-4496-9FBB-89B9AE9A4E2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d9e5a64b2784308" /><Relationship Type="http://schemas.openxmlformats.org/officeDocument/2006/relationships/slideLayout" Target="/ppt/slideLayouts/slideLayout1.xml" Id="R0908eb9cfcc3479c" /><Relationship Type="http://schemas.openxmlformats.org/officeDocument/2006/relationships/slideLayout" Target="/ppt/slideLayouts/slideLayout2.xml" Id="R181e3c0a4bb449e0" /><Relationship Type="http://schemas.openxmlformats.org/officeDocument/2006/relationships/slideLayout" Target="/ppt/slideLayouts/slideLayout3.xml" Id="R3294f5edf771496c" /><Relationship Type="http://schemas.openxmlformats.org/officeDocument/2006/relationships/slideLayout" Target="/ppt/slideLayouts/slideLayout4.xml" Id="R7169a206560b4f8f" /><Relationship Type="http://schemas.openxmlformats.org/officeDocument/2006/relationships/slideLayout" Target="/ppt/slideLayouts/slideLayout5.xml" Id="Rd27e27cd1e694d6f" /><Relationship Type="http://schemas.openxmlformats.org/officeDocument/2006/relationships/slideLayout" Target="/ppt/slideLayouts/slideLayout6.xml" Id="R82bd6de837d142f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908eb9cfcc3479c"/>
    <p:sldLayoutId xmlns:r="http://schemas.openxmlformats.org/officeDocument/2006/relationships" id="2147483650" r:id="R181e3c0a4bb449e0"/>
    <p:sldLayoutId xmlns:r="http://schemas.openxmlformats.org/officeDocument/2006/relationships" id="2147483651" r:id="R3294f5edf771496c"/>
    <p:sldLayoutId xmlns:r="http://schemas.openxmlformats.org/officeDocument/2006/relationships" id="2147483652" r:id="R7169a206560b4f8f"/>
    <p:sldLayoutId xmlns:r="http://schemas.openxmlformats.org/officeDocument/2006/relationships" id="2147483653" r:id="Rd27e27cd1e694d6f"/>
    <p:sldLayoutId xmlns:r="http://schemas.openxmlformats.org/officeDocument/2006/relationships" id="2147483654" r:id="R82bd6de837d142f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036b79e084941d6" /><Relationship Type="http://schemas.openxmlformats.org/officeDocument/2006/relationships/notesSlide" Target="/ppt/notesSlides/notesSlide1.xml" Id="R39cfa93a4e34428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8ca3f2151ae4a5a" /><Relationship Type="http://schemas.openxmlformats.org/officeDocument/2006/relationships/notesSlide" Target="/ppt/notesSlides/notesSlide2.xml" Id="R55bde093963644a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16d65f16a4a4872" /><Relationship Type="http://schemas.openxmlformats.org/officeDocument/2006/relationships/notesSlide" Target="/ppt/notesSlides/notesSlide3.xml" Id="Rcf819fe6f924410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72e883af2564b69" /><Relationship Type="http://schemas.openxmlformats.org/officeDocument/2006/relationships/notesSlide" Target="/ppt/notesSlides/notesSlide4.xml" Id="Rd57486cff1cb4b7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5d9ad9b0bd0495d" /><Relationship Type="http://schemas.openxmlformats.org/officeDocument/2006/relationships/notesSlide" Target="/ppt/notesSlides/notesSlide5.xml" Id="R607f68aed5ba4f3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9ede01d9e584f74" /><Relationship Type="http://schemas.openxmlformats.org/officeDocument/2006/relationships/notesSlide" Target="/ppt/notesSlides/notesSlide6.xml" Id="R24581eb0246445c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B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DD60DA-19BA-4425-BD03-3C7223D8F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43000"/>
            <a:ext cx="990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153F35"/>
                </a:solidFill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53F35"/>
                </a:solidFill>
              </a:defRPr>
            </a:pPr>
            <a:r>
              <a:rPr sz="3450" b="1">
                <a:solidFill>
                  <a:srgbClr val="153F35"/>
                </a:solidFill>
              </a:rPr>
              <a:t>MoveInSync Play Store Ratings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50CB28-07F7-49DE-BB3E-3254F0AE2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590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547268"/>
                </a:solidFill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47268"/>
                </a:solidFill>
              </a:defRPr>
            </a:pPr>
            <a:r>
              <a:rPr sz="1875" b="0">
                <a:solidFill>
                  <a:srgbClr val="547268"/>
                </a:solidFill>
              </a:rPr>
              <a:t>FDE case study solution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DE4762-82E7-4C91-833C-35E51FE32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0"/>
            <a:ext cx="8858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202624"/>
                </a:solidFill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02624"/>
                </a:solidFill>
              </a:defRPr>
            </a:pPr>
            <a:r>
              <a:rPr sz="2100" b="0">
                <a:solidFill>
                  <a:srgbClr val="202624"/>
                </a:solidFill>
              </a:rPr>
              <a:t>Improve ratings by fixing commute-trust failures: booking confidence, live tracking, no-show recovery, OTP visibility, app reliability, and support closure.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F1D785-36AB-484B-9078-3123FABA7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47268"/>
                </a:solidFill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47268"/>
                </a:solidFill>
              </a:defRPr>
            </a:pPr>
            <a:r>
              <a:rPr sz="1350" b="0">
                <a:solidFill>
                  <a:srgbClr val="547268"/>
                </a:solidFill>
              </a:rPr>
              <a:t>Prepared as a field memo plus execution plan</a:t>
            </a:r>
          </a:p>
        </p:txBody>
      </p:sp>
    </p:spTree>
    <p:extLst>
      <p:ext uri="{BB962C8B-B14F-4D97-AF65-F5344CB8AC3E}">
        <p14:creationId xmlns:p14="http://schemas.microsoft.com/office/powerpoint/2010/main" val="116447043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B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7EA4C8-2A7A-4B05-9A52-4F822E1E2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91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547268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547268"/>
                </a:solidFill>
              </a:defRPr>
            </a:pPr>
            <a:r>
              <a:rPr sz="975" b="1">
                <a:solidFill>
                  <a:srgbClr val="547268"/>
                </a:solidFill>
              </a:rPr>
              <a:t>MOVEINSYNC FDE CASE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DE7887-AB17-4BF9-9082-A1BB3A6F6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00100"/>
            <a:ext cx="990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153F35"/>
                </a:solidFill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153F35"/>
                </a:solidFill>
              </a:defRPr>
            </a:pPr>
            <a:r>
              <a:rPr sz="2550" b="1">
                <a:solidFill>
                  <a:srgbClr val="153F35"/>
                </a:solidFill>
              </a:rPr>
              <a:t>What public reviews are really saying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B0DE2B-6997-49BB-8982-70E03C954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0"/>
            <a:ext cx="990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345"/>
          </a:solidFill>
          <a:ln xmlns:a="http://schemas.openxmlformats.org/drawingml/2006/main" w="0">
            <a:solidFill>
              <a:srgbClr val="24534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F4DC74-329C-45A5-8C03-767BE29AD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00250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245345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245345"/>
                </a:solidFill>
              </a:defRPr>
            </a:pPr>
            <a:r>
              <a:rPr sz="1650" b="1">
                <a:solidFill>
                  <a:srgbClr val="245345"/>
                </a:solidFill>
              </a:rPr>
              <a:t>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54D5B6-B9D1-495E-82D9-74753F56E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000250"/>
            <a:ext cx="9296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202624"/>
                </a:solidFill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02624"/>
                </a:solidFill>
              </a:defRPr>
            </a:pPr>
            <a:r>
              <a:rPr sz="1650" b="0">
                <a:solidFill>
                  <a:srgbClr val="202624"/>
                </a:solidFill>
              </a:rPr>
              <a:t>The Android rating is acceptable on paper, but the angry reviews cluster around high-stress commute moments.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AE291F-9BC0-4348-84A9-28DE672EC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86050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245345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245345"/>
                </a:solidFill>
              </a:defRPr>
            </a:pPr>
            <a:r>
              <a:rPr sz="1650" b="1">
                <a:solidFill>
                  <a:srgbClr val="245345"/>
                </a:solidFill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C60461-EBF1-4C79-A4AF-415BFF971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686050"/>
            <a:ext cx="9296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202624"/>
                </a:solidFill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02624"/>
                </a:solidFill>
              </a:defRPr>
            </a:pPr>
            <a:r>
              <a:rPr sz="1650" b="0">
                <a:solidFill>
                  <a:srgbClr val="202624"/>
                </a:solidFill>
              </a:rPr>
              <a:t>Users complain when they cannot prove the ride exists, cannot trust the map, or get marked no-show without recovery.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3BA92A-06E2-4E43-BE2A-939EF9F37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71850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245345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245345"/>
                </a:solidFill>
              </a:defRPr>
            </a:pPr>
            <a:r>
              <a:rPr sz="1650" b="1">
                <a:solidFill>
                  <a:srgbClr val="245345"/>
                </a:solidFill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6EC18E-7939-4B8E-9D5C-BEF8C5CC1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371850"/>
            <a:ext cx="9296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202624"/>
                </a:solidFill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02624"/>
                </a:solidFill>
              </a:defRPr>
            </a:pPr>
            <a:r>
              <a:rPr sz="1650" b="0">
                <a:solidFill>
                  <a:srgbClr val="202624"/>
                </a:solidFill>
              </a:rPr>
              <a:t>The problem cuts across product, routing, driver app, operations, and customer transport desks.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D1323E-0DC5-4742-B0F0-71F6ACF8D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57650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245345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245345"/>
                </a:solidFill>
              </a:defRPr>
            </a:pPr>
            <a:r>
              <a:rPr sz="1650" b="1">
                <a:solidFill>
                  <a:srgbClr val="245345"/>
                </a:solidFill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FF9775-3993-4338-AC90-4FEBD8460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057650"/>
            <a:ext cx="9296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202624"/>
                </a:solidFill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02624"/>
                </a:solidFill>
              </a:defRPr>
            </a:pPr>
            <a:r>
              <a:rPr sz="1650" b="0">
                <a:solidFill>
                  <a:srgbClr val="202624"/>
                </a:solidFill>
              </a:rPr>
              <a:t>A generic UX audit would miss the real issue: employees feel powerless when the commute fails.</a:t>
            </a:r>
          </a:p>
        </p:txBody>
      </p:sp>
    </p:spTree>
    <p:extLst>
      <p:ext uri="{BB962C8B-B14F-4D97-AF65-F5344CB8AC3E}">
        <p14:creationId xmlns:p14="http://schemas.microsoft.com/office/powerpoint/2010/main" val="88562435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B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526AF9-5EAC-4928-B866-68F7EB1F5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91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547268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547268"/>
                </a:solidFill>
              </a:defRPr>
            </a:pPr>
            <a:r>
              <a:rPr sz="975" b="1">
                <a:solidFill>
                  <a:srgbClr val="547268"/>
                </a:solidFill>
              </a:rPr>
              <a:t>MOVEINSYNC FDE CASE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996A9D-5345-4662-A6D1-6679701DB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00100"/>
            <a:ext cx="990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153F35"/>
                </a:solidFill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153F35"/>
                </a:solidFill>
              </a:defRPr>
            </a:pPr>
            <a:r>
              <a:rPr sz="2550" b="1">
                <a:solidFill>
                  <a:srgbClr val="153F35"/>
                </a:solidFill>
              </a:rPr>
              <a:t>What to fix first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C3B279-0353-430E-B8D7-FFEA563DD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0"/>
            <a:ext cx="990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345"/>
          </a:solidFill>
          <a:ln xmlns:a="http://schemas.openxmlformats.org/drawingml/2006/main" w="0">
            <a:solidFill>
              <a:srgbClr val="24534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98A91A-44EF-4DC5-9603-4CA0706CF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0250"/>
            <a:ext cx="323850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ED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6F4D87-4B31-484F-8169-55C6C79AF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90750"/>
            <a:ext cx="2819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1">
                <a:solidFill>
                  <a:srgbClr val="153F35"/>
                </a:solidFill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153F35"/>
                </a:solidFill>
              </a:defRPr>
            </a:pPr>
            <a:r>
              <a:rPr sz="1575" b="1">
                <a:solidFill>
                  <a:srgbClr val="153F35"/>
                </a:solidFill>
              </a:rPr>
              <a:t>Trip status card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E1DB54-227D-43E0-AF2E-B40784DD6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590800"/>
            <a:ext cx="28194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202624"/>
                </a:solidFill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202624"/>
                </a:solidFill>
              </a:defRPr>
            </a:pPr>
            <a:r>
              <a:rPr sz="1275" b="0">
                <a:solidFill>
                  <a:srgbClr val="202624"/>
                </a:solidFill>
              </a:rPr>
              <a:t>Make the home screen answer one question clearly: do I have a ride, and what state is it in?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B8A76F-647F-499E-836F-E8FA2781D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000250"/>
            <a:ext cx="323850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ED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9C1D6C-7169-41E4-9B80-386A00F88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190750"/>
            <a:ext cx="2819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1">
                <a:solidFill>
                  <a:srgbClr val="153F35"/>
                </a:solidFill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153F35"/>
                </a:solidFill>
              </a:defRPr>
            </a:pPr>
            <a:r>
              <a:rPr sz="1575" b="1">
                <a:solidFill>
                  <a:srgbClr val="153F35"/>
                </a:solidFill>
              </a:rPr>
              <a:t>No-show recovery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A7B2D2-5BD3-4672-B40C-71EF22847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590800"/>
            <a:ext cx="28194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202624"/>
                </a:solidFill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202624"/>
                </a:solidFill>
              </a:defRPr>
            </a:pPr>
            <a:r>
              <a:rPr sz="1275" b="0">
                <a:solidFill>
                  <a:srgbClr val="202624"/>
                </a:solidFill>
              </a:rPr>
              <a:t>Warn the employee near pickup, then offer a short recovery action before marking no-show.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EF5ED4-A989-43A5-9461-8C7B5BF6C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00250"/>
            <a:ext cx="323850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ED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601304-0E36-4F92-AFF3-27AD43065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190750"/>
            <a:ext cx="2819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1">
                <a:solidFill>
                  <a:srgbClr val="153F35"/>
                </a:solidFill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153F35"/>
                </a:solidFill>
              </a:defRPr>
            </a:pPr>
            <a:r>
              <a:rPr sz="1575" b="1">
                <a:solidFill>
                  <a:srgbClr val="153F35"/>
                </a:solidFill>
              </a:rPr>
              <a:t>Tracking freshness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8FAD89-B37B-4EC6-9174-792155013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590800"/>
            <a:ext cx="28194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202624"/>
                </a:solidFill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202624"/>
                </a:solidFill>
              </a:defRPr>
            </a:pPr>
            <a:r>
              <a:rPr sz="1275" b="0">
                <a:solidFill>
                  <a:srgbClr val="202624"/>
                </a:solidFill>
              </a:rPr>
              <a:t>Track location age and ETA error. Show last-updated time instead of pretending stale GPS is live.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3D145D-D446-4C95-B74E-C705383B9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57750"/>
            <a:ext cx="971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153F35"/>
                </a:solidFill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53F35"/>
                </a:solidFill>
              </a:defRPr>
            </a:pPr>
            <a:r>
              <a:rPr sz="1800" b="1">
                <a:solidFill>
                  <a:srgbClr val="153F35"/>
                </a:solidFill>
              </a:rPr>
              <a:t>First week output: prototype these flows, add instrumentation, and pilot with a small customer set.</a:t>
            </a:r>
          </a:p>
        </p:txBody>
      </p:sp>
    </p:spTree>
    <p:extLst>
      <p:ext uri="{BB962C8B-B14F-4D97-AF65-F5344CB8AC3E}">
        <p14:creationId xmlns:p14="http://schemas.microsoft.com/office/powerpoint/2010/main" val="83373759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B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296CF2-54C8-4C7A-8A3C-8BB6440FF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91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547268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547268"/>
                </a:solidFill>
              </a:defRPr>
            </a:pPr>
            <a:r>
              <a:rPr sz="975" b="1">
                <a:solidFill>
                  <a:srgbClr val="547268"/>
                </a:solidFill>
              </a:rPr>
              <a:t>MOVEINSYNC FDE CASE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0C7157-D6B7-4FEF-816C-FB1B06F8A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00100"/>
            <a:ext cx="990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153F35"/>
                </a:solidFill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153F35"/>
                </a:solidFill>
              </a:defRPr>
            </a:pPr>
            <a:r>
              <a:rPr sz="2550" b="1">
                <a:solidFill>
                  <a:srgbClr val="153F35"/>
                </a:solidFill>
              </a:rPr>
              <a:t>A script now runs the weekly pulse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D112C2-812D-459B-8A80-7ADB43FDD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0"/>
            <a:ext cx="990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345"/>
          </a:solidFill>
          <a:ln xmlns:a="http://schemas.openxmlformats.org/drawingml/2006/main" w="0">
            <a:solidFill>
              <a:srgbClr val="24534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D5253D-92DE-4E42-B479-CC999B05F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025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ED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78BB2B-408C-42B6-9C93-8EBE61020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90750"/>
            <a:ext cx="2819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1">
                <a:solidFill>
                  <a:srgbClr val="153F35"/>
                </a:solidFill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153F35"/>
                </a:solidFill>
              </a:defRPr>
            </a:pPr>
            <a:r>
              <a:rPr sz="1575" b="1">
                <a:solidFill>
                  <a:srgbClr val="153F35"/>
                </a:solidFill>
              </a:rPr>
              <a:t>Public review pull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4B0142-5910-496B-A953-7790A22D1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590800"/>
            <a:ext cx="28194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202624"/>
                </a:solidFill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202624"/>
                </a:solidFill>
              </a:defRPr>
            </a:pPr>
            <a:r>
              <a:rPr sz="1275" b="0">
                <a:solidFill>
                  <a:srgbClr val="202624"/>
                </a:solidFill>
              </a:rPr>
              <a:t>play_pulse.py reads recent Play reviews, ratings, versions, replies, and review text themes.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93F54A-B7D8-4C64-9DCB-8CF1BB149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00025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ED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D61331-920E-40D6-A4A4-FF3C21A9B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190750"/>
            <a:ext cx="2819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1">
                <a:solidFill>
                  <a:srgbClr val="153F35"/>
                </a:solidFill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153F35"/>
                </a:solidFill>
              </a:defRPr>
            </a:pPr>
            <a:r>
              <a:rPr sz="1575" b="1">
                <a:solidFill>
                  <a:srgbClr val="153F35"/>
                </a:solidFill>
              </a:rPr>
              <a:t>Latest run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4B367F-CEB3-4F09-B346-60D35302F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590800"/>
            <a:ext cx="28194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202624"/>
                </a:solidFill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202624"/>
                </a:solidFill>
              </a:defRPr>
            </a:pPr>
            <a:r>
              <a:rPr sz="1275" b="0">
                <a:solidFill>
                  <a:srgbClr val="202624"/>
                </a:solidFill>
              </a:rPr>
              <a:t>On 2026-10-13 it read 235 written reviews from the last 30 days and 223 from the prior 30 days.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F45B02-7E6A-4A89-B170-517C2A0B0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0025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ED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047DA4-3527-44FB-833B-DAA339421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190750"/>
            <a:ext cx="2819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1">
                <a:solidFill>
                  <a:srgbClr val="153F35"/>
                </a:solidFill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153F35"/>
                </a:solidFill>
              </a:defRPr>
            </a:pPr>
            <a:r>
              <a:rPr sz="1575" b="1">
                <a:solidFill>
                  <a:srgbClr val="153F35"/>
                </a:solidFill>
              </a:rPr>
              <a:t>Signal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480415-5F1E-4CAC-967D-CD821B605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590800"/>
            <a:ext cx="28194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202624"/>
                </a:solidFill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202624"/>
                </a:solidFill>
              </a:defRPr>
            </a:pPr>
            <a:r>
              <a:rPr sz="1275" b="0">
                <a:solidFill>
                  <a:srgbClr val="202624"/>
                </a:solidFill>
              </a:rPr>
              <a:t>1-star share was 27.7%, up 2.6 points. Top 1-star versions were 12.19.0 and 12.18.1.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1D7D2E-4EA0-4440-AD3D-17B2F8018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953000"/>
            <a:ext cx="971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153F35"/>
                </a:solidFill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153F35"/>
                </a:solidFill>
              </a:defRPr>
            </a:pPr>
            <a:r>
              <a:rPr sz="1725" b="1">
                <a:solidFill>
                  <a:srgbClr val="153F35"/>
                </a:solidFill>
              </a:rPr>
              <a:t>The script is a small but real starting point for Ratings Room, with a saved JSON snapshot in the repo.</a:t>
            </a:r>
          </a:p>
        </p:txBody>
      </p:sp>
    </p:spTree>
    <p:extLst>
      <p:ext uri="{BB962C8B-B14F-4D97-AF65-F5344CB8AC3E}">
        <p14:creationId xmlns:p14="http://schemas.microsoft.com/office/powerpoint/2010/main" val="144276112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B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C1A037-1C9C-4A12-A932-138773549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91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547268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547268"/>
                </a:solidFill>
              </a:defRPr>
            </a:pPr>
            <a:r>
              <a:rPr sz="975" b="1">
                <a:solidFill>
                  <a:srgbClr val="547268"/>
                </a:solidFill>
              </a:rPr>
              <a:t>MOVEINSYNC FDE CASE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E3EDDA-5CEE-4F62-9ADE-4AC506E81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00100"/>
            <a:ext cx="990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153F35"/>
                </a:solidFill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153F35"/>
                </a:solidFill>
              </a:defRPr>
            </a:pPr>
            <a:r>
              <a:rPr sz="2550" b="1">
                <a:solidFill>
                  <a:srgbClr val="153F35"/>
                </a:solidFill>
              </a:rPr>
              <a:t>Ratings Room operating system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94DC26-62B2-47F7-8BFD-B9A1F7ECF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0"/>
            <a:ext cx="990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345"/>
          </a:solidFill>
          <a:ln xmlns:a="http://schemas.openxmlformats.org/drawingml/2006/main" w="0">
            <a:solidFill>
              <a:srgbClr val="24534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2AD223-C957-41B9-B48D-2490B8453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05000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1">
                <a:solidFill>
                  <a:srgbClr val="245345"/>
                </a:solidFill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245345"/>
                </a:solidFill>
              </a:defRPr>
            </a:pPr>
            <a:r>
              <a:rPr sz="1575" b="1">
                <a:solidFill>
                  <a:srgbClr val="245345"/>
                </a:solidFill>
              </a:rPr>
              <a:t>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B44C43-CAF8-4395-A654-3E2C041B5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905000"/>
            <a:ext cx="9486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202624"/>
                </a:solidFill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02624"/>
                </a:solidFill>
              </a:defRPr>
            </a:pPr>
            <a:r>
              <a:rPr sz="1575" b="0">
                <a:solidFill>
                  <a:srgbClr val="202624"/>
                </a:solidFill>
              </a:rPr>
              <a:t>Ingest Play reviews, ratings, app version, device data, developer replies, and internal trip telemetry.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3097A7-3B17-4BDC-90EA-A854249CA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57450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1">
                <a:solidFill>
                  <a:srgbClr val="245345"/>
                </a:solidFill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245345"/>
                </a:solidFill>
              </a:defRPr>
            </a:pPr>
            <a:r>
              <a:rPr sz="1575" b="1">
                <a:solidFill>
                  <a:srgbClr val="245345"/>
                </a:solidFill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007A6C-2755-420B-B6E1-2485FDAAC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457450"/>
            <a:ext cx="9486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202624"/>
                </a:solidFill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02624"/>
                </a:solidFill>
              </a:defRPr>
            </a:pPr>
            <a:r>
              <a:rPr sz="1575" b="0">
                <a:solidFill>
                  <a:srgbClr val="202624"/>
                </a:solidFill>
              </a:rPr>
              <a:t>Tag every review by trip stage, product theme, severity, owner, and recovery status.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ABF68D-409D-4212-8328-D53154ED3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09900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1">
                <a:solidFill>
                  <a:srgbClr val="245345"/>
                </a:solidFill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245345"/>
                </a:solidFill>
              </a:defRPr>
            </a:pPr>
            <a:r>
              <a:rPr sz="1575" b="1">
                <a:solidFill>
                  <a:srgbClr val="245345"/>
                </a:solidFill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7B4427-ED7C-46FF-973B-7BF690754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9486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202624"/>
                </a:solidFill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02624"/>
                </a:solidFill>
              </a:defRPr>
            </a:pPr>
            <a:r>
              <a:rPr sz="1575" b="0">
                <a:solidFill>
                  <a:srgbClr val="202624"/>
                </a:solidFill>
              </a:rPr>
              <a:t>Create tickets for severe themes such as stranded, stale GPS, OTP missing, wrong pickup, and server error.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1E68AC-9D75-49F2-92F8-81A83EB9E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62350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1">
                <a:solidFill>
                  <a:srgbClr val="245345"/>
                </a:solidFill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245345"/>
                </a:solidFill>
              </a:defRPr>
            </a:pPr>
            <a:r>
              <a:rPr sz="1575" b="1">
                <a:solidFill>
                  <a:srgbClr val="245345"/>
                </a:solidFill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CD568E-AF67-4EAF-939E-41F4E131C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62350"/>
            <a:ext cx="9486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202624"/>
                </a:solidFill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02624"/>
                </a:solidFill>
              </a:defRPr>
            </a:pPr>
            <a:r>
              <a:rPr sz="1575" b="0">
                <a:solidFill>
                  <a:srgbClr val="202624"/>
                </a:solidFill>
              </a:rPr>
              <a:t>Audit no-show geofence/timer settings by client before assuming the product flow is the only gap.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B1C058-F88E-4D8C-80C4-8CB4EDFFD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14800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1">
                <a:solidFill>
                  <a:srgbClr val="245345"/>
                </a:solidFill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245345"/>
                </a:solidFill>
              </a:defRPr>
            </a:pPr>
            <a:r>
              <a:rPr sz="1575" b="1">
                <a:solidFill>
                  <a:srgbClr val="245345"/>
                </a:solidFill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2C9760-8843-44AF-8261-F46E58617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14800"/>
            <a:ext cx="9486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202624"/>
                </a:solidFill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02624"/>
                </a:solidFill>
              </a:defRPr>
            </a:pPr>
            <a:r>
              <a:rPr sz="1575" b="0">
                <a:solidFill>
                  <a:srgbClr val="202624"/>
                </a:solidFill>
              </a:rPr>
              <a:t>Run staged rollouts with a halt rule when 1-star share or crash/session issues spike.</a:t>
            </a:r>
          </a:p>
        </p:txBody>
      </p:sp>
    </p:spTree>
    <p:extLst>
      <p:ext uri="{BB962C8B-B14F-4D97-AF65-F5344CB8AC3E}">
        <p14:creationId xmlns:p14="http://schemas.microsoft.com/office/powerpoint/2010/main" val="96664338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B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60E98A-9DF4-473A-B7F6-0FAEA8C0F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91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547268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547268"/>
                </a:solidFill>
              </a:defRPr>
            </a:pPr>
            <a:r>
              <a:rPr sz="975" b="1">
                <a:solidFill>
                  <a:srgbClr val="547268"/>
                </a:solidFill>
              </a:rPr>
              <a:t>MOVEINSYNC FDE CASE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101201-D2AF-4593-BED9-8BF52AC4D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00100"/>
            <a:ext cx="990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153F35"/>
                </a:solidFill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153F35"/>
                </a:solidFill>
              </a:defRPr>
            </a:pPr>
            <a:r>
              <a:rPr sz="2550" b="1">
                <a:solidFill>
                  <a:srgbClr val="153F35"/>
                </a:solidFill>
              </a:rPr>
              <a:t>30/60/90-day execution plan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A86D7F-71D1-4DDF-8358-015D95F5F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0"/>
            <a:ext cx="990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345"/>
          </a:solidFill>
          <a:ln xmlns:a="http://schemas.openxmlformats.org/drawingml/2006/main" w="0">
            <a:solidFill>
              <a:srgbClr val="24534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E38292-A0B3-49DA-9600-A760839E7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0250"/>
            <a:ext cx="3238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ED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8E01A9-C9E4-41E8-91D4-22A07A517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90750"/>
            <a:ext cx="2819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1">
                <a:solidFill>
                  <a:srgbClr val="153F35"/>
                </a:solidFill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153F35"/>
                </a:solidFill>
              </a:defRPr>
            </a:pPr>
            <a:r>
              <a:rPr sz="1575" b="1">
                <a:solidFill>
                  <a:srgbClr val="153F35"/>
                </a:solidFill>
              </a:rPr>
              <a:t>Days 1-30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D41207-4B53-4E75-9027-F9B890EBF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590800"/>
            <a:ext cx="28194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202624"/>
                </a:solidFill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202624"/>
                </a:solidFill>
              </a:defRPr>
            </a:pPr>
            <a:r>
              <a:rPr sz="1275" b="0">
                <a:solidFill>
                  <a:srgbClr val="202624"/>
                </a:solidFill>
              </a:rPr>
              <a:t>Pull 12 months of reviews, validate the taxonomy, launch daily digest, ship trip card and no-show pilot.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015A26-7F09-422C-B974-E37E6B421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000250"/>
            <a:ext cx="3238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ED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5CD407-C752-4B21-AA85-1C1F1AD93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190750"/>
            <a:ext cx="2819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1">
                <a:solidFill>
                  <a:srgbClr val="153F35"/>
                </a:solidFill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153F35"/>
                </a:solidFill>
              </a:defRPr>
            </a:pPr>
            <a:r>
              <a:rPr sz="1575" b="1">
                <a:solidFill>
                  <a:srgbClr val="153F35"/>
                </a:solidFill>
              </a:rPr>
              <a:t>Days 31-60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7EC92C-C935-40BA-BBCA-FC8DE1FC9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590800"/>
            <a:ext cx="28194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202624"/>
                </a:solidFill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202624"/>
                </a:solidFill>
              </a:defRPr>
            </a:pPr>
            <a:r>
              <a:rPr sz="1275" b="0">
                <a:solidFill>
                  <a:srgbClr val="202624"/>
                </a:solidFill>
              </a:rPr>
              <a:t>Roll out to 25 percent of Android users, add low-network ride essentials, and track rating updates after replies.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D5B31F-5CA9-4D3A-90AA-A1CC59C9F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00250"/>
            <a:ext cx="3238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ED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93D369-FFE5-42DF-A8F8-8FE26A6D8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190750"/>
            <a:ext cx="2819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1">
                <a:solidFill>
                  <a:srgbClr val="153F35"/>
                </a:solidFill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153F35"/>
                </a:solidFill>
              </a:defRPr>
            </a:pPr>
            <a:r>
              <a:rPr sz="1575" b="1">
                <a:solidFill>
                  <a:srgbClr val="153F35"/>
                </a:solidFill>
              </a:rPr>
              <a:t>Days 61-90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740EEE-15FE-49E3-84B2-4426EA709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590800"/>
            <a:ext cx="28194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202624"/>
                </a:solidFill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202624"/>
                </a:solidFill>
              </a:defRPr>
            </a:pPr>
            <a:r>
              <a:rPr sz="1275" b="0">
                <a:solidFill>
                  <a:srgbClr val="202624"/>
                </a:solidFill>
              </a:rPr>
              <a:t>Full rollout, ethical in-app review prompts after successful trips, and productize Ratings Room.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28A12C-DC3B-44D9-A316-C71FE3D6B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095875"/>
            <a:ext cx="971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153F35"/>
                </a:solidFill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153F35"/>
                </a:solidFill>
              </a:defRPr>
            </a:pPr>
            <a:r>
              <a:rPr sz="1725" b="1">
                <a:solidFill>
                  <a:srgbClr val="153F35"/>
                </a:solidFill>
              </a:rPr>
              <a:t>Success metric: fewer fresh 1-star moments, higher recent rating average, faster owner assignment, and visible issue closure.</a:t>
            </a:r>
          </a:p>
        </p:txBody>
      </p:sp>
    </p:spTree>
    <p:extLst>
      <p:ext uri="{BB962C8B-B14F-4D97-AF65-F5344CB8AC3E}">
        <p14:creationId xmlns:p14="http://schemas.microsoft.com/office/powerpoint/2010/main" val="82535673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2026-10-13T02:19:07.1720000Z</dcterms:created>
  <dcterms:modified xsi:type="dcterms:W3CDTF">2026-10-13T02:19:07.1720000Z</dcterms:modified>
</coreProperties>
</file>