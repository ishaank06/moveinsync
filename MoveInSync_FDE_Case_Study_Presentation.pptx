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080de4b6f940be" /><Relationship Type="http://schemas.openxmlformats.org/officeDocument/2006/relationships/extended-properties" Target="/docProps/app.xml" Id="R9d1586877dd64ba5" /><Relationship Type="http://schemas.openxmlformats.org/officeDocument/2006/relationships/officeDocument" Target="/ppt/presentation.xml" Id="R54f2fc8e9ba94c0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f32c09ded74bd4"/>
  </p:sldMasterIdLst>
  <p:notesMasterIdLst>
    <p:notesMasterId xmlns:r="http://schemas.openxmlformats.org/officeDocument/2006/relationships" r:id="R06886776ab2c4f14"/>
  </p:notesMasterIdLst>
  <p:sldIdLst>
    <p:sldId xmlns:r="http://schemas.openxmlformats.org/officeDocument/2006/relationships" id="256" r:id="R59c97aa87e9e419f"/>
    <p:sldId xmlns:r="http://schemas.openxmlformats.org/officeDocument/2006/relationships" id="257" r:id="R5e1af6e1665a41c0"/>
    <p:sldId xmlns:r="http://schemas.openxmlformats.org/officeDocument/2006/relationships" id="258" r:id="Rf2ec72abe6954ac1"/>
    <p:sldId xmlns:r="http://schemas.openxmlformats.org/officeDocument/2006/relationships" id="259" r:id="Ra71f6a92d2884a41"/>
    <p:sldId xmlns:r="http://schemas.openxmlformats.org/officeDocument/2006/relationships" id="260" r:id="R6d76f141cd2c4a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eaeca3750e4b98" /><Relationship Type="http://schemas.openxmlformats.org/officeDocument/2006/relationships/slideMaster" Target="/ppt/slideMasters/slideMaster1.xml" Id="Reaf32c09ded74bd4" /><Relationship Type="http://schemas.openxmlformats.org/officeDocument/2006/relationships/notesMaster" Target="/ppt/notesMasters/notesMaster1.xml" Id="R06886776ab2c4f14" /><Relationship Type="http://schemas.openxmlformats.org/officeDocument/2006/relationships/presProps" Target="/ppt/presProps.xml" Id="Ra596f6e5b74c4d49" /><Relationship Type="http://schemas.openxmlformats.org/officeDocument/2006/relationships/tableStyles" Target="/ppt/tableStyles.xml" Id="Rec40baea039248b9" /><Relationship Type="http://schemas.openxmlformats.org/officeDocument/2006/relationships/slide" Target="/ppt/slides/slide1.xml" Id="R59c97aa87e9e419f" /><Relationship Type="http://schemas.openxmlformats.org/officeDocument/2006/relationships/slide" Target="/ppt/slides/slide2.xml" Id="R5e1af6e1665a41c0" /><Relationship Type="http://schemas.openxmlformats.org/officeDocument/2006/relationships/slide" Target="/ppt/slides/slide3.xml" Id="Rf2ec72abe6954ac1" /><Relationship Type="http://schemas.openxmlformats.org/officeDocument/2006/relationships/slide" Target="/ppt/slides/slide4.xml" Id="Ra71f6a92d2884a41" /><Relationship Type="http://schemas.openxmlformats.org/officeDocument/2006/relationships/slide" Target="/ppt/slides/slide5.xml" Id="R6d76f141cd2c4a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d367d9674a4a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c5affc4ca5426b" /><Relationship Type="http://schemas.openxmlformats.org/officeDocument/2006/relationships/notesMaster" Target="/ppt/notesMasters/notesMaster1.xml" Id="Rff77bf6f6a714f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7141ae568f45b4" /><Relationship Type="http://schemas.openxmlformats.org/officeDocument/2006/relationships/notesMaster" Target="/ppt/notesMasters/notesMaster1.xml" Id="R600c640d059446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cef40044d648b0" /><Relationship Type="http://schemas.openxmlformats.org/officeDocument/2006/relationships/notesMaster" Target="/ppt/notesMasters/notesMaster1.xml" Id="R1090ff24a47146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8a9bed492c4615" /><Relationship Type="http://schemas.openxmlformats.org/officeDocument/2006/relationships/notesMaster" Target="/ppt/notesMasters/notesMaster1.xml" Id="Re9c62cae1c6c4c1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f4fe6a085546d0" /><Relationship Type="http://schemas.openxmlformats.org/officeDocument/2006/relationships/notesMaster" Target="/ppt/notesMasters/notesMaster1.xml" Id="R308c835dcbca48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4c1d9131a8437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52b51010d542c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bcb49dc59e4e5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7d1f33d31944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4841bcacf4e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11d3f6c53f4c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358BA1-A343-4A5B-9360-85746B544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C959105-5043-4387-AE77-ABC2B41C1A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FBAAB0-A72F-433D-8AAC-448BB8793B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55660D-F93B-4F06-8A7B-E6978DF780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CB8C53-AD56-4A90-A098-7C9F9D473B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134A9B-4E89-4418-9391-F4166AD825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E81CDD0-B196-4645-BC5F-774ED035F1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F3855D-F428-46DA-A678-F506B3394E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403DB3-069A-4FF0-832B-F4D8FB8DD5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B1B912-A027-4E73-BC9A-F45E58A58D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e5c3704e514655" /><Relationship Type="http://schemas.openxmlformats.org/officeDocument/2006/relationships/slideLayout" Target="/ppt/slideLayouts/slideLayout1.xml" Id="R7d49f9868c5b473c" /><Relationship Type="http://schemas.openxmlformats.org/officeDocument/2006/relationships/slideLayout" Target="/ppt/slideLayouts/slideLayout2.xml" Id="Re5fb1e006ec6475e" /><Relationship Type="http://schemas.openxmlformats.org/officeDocument/2006/relationships/slideLayout" Target="/ppt/slideLayouts/slideLayout3.xml" Id="R9aac8bb467104eb3" /><Relationship Type="http://schemas.openxmlformats.org/officeDocument/2006/relationships/slideLayout" Target="/ppt/slideLayouts/slideLayout4.xml" Id="R9f4ea18bc4794d05" /><Relationship Type="http://schemas.openxmlformats.org/officeDocument/2006/relationships/slideLayout" Target="/ppt/slideLayouts/slideLayout5.xml" Id="R4ae3f59a0e824125" /><Relationship Type="http://schemas.openxmlformats.org/officeDocument/2006/relationships/slideLayout" Target="/ppt/slideLayouts/slideLayout6.xml" Id="Ra2dcb074f24d42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49f9868c5b473c"/>
    <p:sldLayoutId xmlns:r="http://schemas.openxmlformats.org/officeDocument/2006/relationships" id="2147483650" r:id="Re5fb1e006ec6475e"/>
    <p:sldLayoutId xmlns:r="http://schemas.openxmlformats.org/officeDocument/2006/relationships" id="2147483651" r:id="R9aac8bb467104eb3"/>
    <p:sldLayoutId xmlns:r="http://schemas.openxmlformats.org/officeDocument/2006/relationships" id="2147483652" r:id="R9f4ea18bc4794d05"/>
    <p:sldLayoutId xmlns:r="http://schemas.openxmlformats.org/officeDocument/2006/relationships" id="2147483653" r:id="R4ae3f59a0e824125"/>
    <p:sldLayoutId xmlns:r="http://schemas.openxmlformats.org/officeDocument/2006/relationships" id="2147483654" r:id="Ra2dcb074f24d42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a7128f686b4ced" /><Relationship Type="http://schemas.openxmlformats.org/officeDocument/2006/relationships/notesSlide" Target="/ppt/notesSlides/notesSlide1.xml" Id="R47d8c213a55144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3f7f0b3504f2b" /><Relationship Type="http://schemas.openxmlformats.org/officeDocument/2006/relationships/notesSlide" Target="/ppt/notesSlides/notesSlide2.xml" Id="R47b8d88e166f45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370c12eaf4456" /><Relationship Type="http://schemas.openxmlformats.org/officeDocument/2006/relationships/notesSlide" Target="/ppt/notesSlides/notesSlide3.xml" Id="Rcb3ce1e6f1cd44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ab6ef16bf740fb" /><Relationship Type="http://schemas.openxmlformats.org/officeDocument/2006/relationships/notesSlide" Target="/ppt/notesSlides/notesSlide4.xml" Id="R3f84e8da028741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507fada4734d37" /><Relationship Type="http://schemas.openxmlformats.org/officeDocument/2006/relationships/notesSlide" Target="/ppt/notesSlides/notesSlide5.xml" Id="Rca56d960326f414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FA4359-A476-4B61-9AD3-7EEAF299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43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53F35"/>
                </a:solidFill>
              </a:defRPr>
            </a:pPr>
            <a:r>
              <a:rPr sz="3450" b="1">
                <a:solidFill>
                  <a:srgbClr val="153F35"/>
                </a:solidFill>
              </a:rPr>
              <a:t>MoveInSync Play Store Ratings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AF02A3-FB02-4A6C-9EBC-50511B103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47268"/>
                </a:solidFill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47268"/>
                </a:solidFill>
              </a:defRPr>
            </a:pPr>
            <a:r>
              <a:rPr sz="1875" b="0">
                <a:solidFill>
                  <a:srgbClr val="547268"/>
                </a:solidFill>
              </a:rPr>
              <a:t>FDE case study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3BD6A-B026-456F-8654-F5677D89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885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2624"/>
                </a:solidFill>
              </a:defRPr>
            </a:pPr>
            <a:r>
              <a:rPr sz="2100" b="0">
                <a:solidFill>
                  <a:srgbClr val="202624"/>
                </a:solidFill>
              </a:rPr>
              <a:t>Improve ratings by fixing commute-trust failures: booking confidence, live tracking, no-show recovery, OTP visibility, app reliability, and support closure.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6E76C-7B50-464C-8578-854A9FBB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47268"/>
                </a:solidFill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47268"/>
                </a:solidFill>
              </a:defRPr>
            </a:pPr>
            <a:r>
              <a:rPr sz="1350" b="0">
                <a:solidFill>
                  <a:srgbClr val="547268"/>
                </a:solidFill>
              </a:rPr>
              <a:t>Prepared as a field memo plus execution plan</a:t>
            </a:r>
          </a:p>
        </p:txBody>
      </p:sp>
    </p:spTree>
    <p:extLst>
      <p:ext uri="{BB962C8B-B14F-4D97-AF65-F5344CB8AC3E}">
        <p14:creationId xmlns:p14="http://schemas.microsoft.com/office/powerpoint/2010/main" val="13883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A3EED5-3D41-44CD-BD0E-114BA67B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4726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47268"/>
                </a:solidFill>
              </a:defRPr>
            </a:pPr>
            <a:r>
              <a:rPr sz="975" b="1">
                <a:solidFill>
                  <a:srgbClr val="547268"/>
                </a:solidFill>
              </a:rPr>
              <a:t>MOVEINSYNC FDE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E39F08-196E-4D0E-A42D-78D7CF89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F35"/>
                </a:solidFill>
              </a:defRPr>
            </a:pPr>
            <a:r>
              <a:rPr sz="2550" b="1">
                <a:solidFill>
                  <a:srgbClr val="153F35"/>
                </a:solidFill>
              </a:rPr>
              <a:t>What public reviews are really saying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60CD9-E14B-4C44-8069-2EC47ACA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45"/>
          </a:solidFill>
          <a:ln xmlns:a="http://schemas.openxmlformats.org/drawingml/2006/main" w="0">
            <a:solidFill>
              <a:srgbClr val="2453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BD77F-E85A-4D14-91E3-582AF674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534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5345"/>
                </a:solidFill>
              </a:defRPr>
            </a:pPr>
            <a:r>
              <a:rPr sz="1650" b="1">
                <a:solidFill>
                  <a:srgbClr val="24534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976182-25A4-4744-A67C-364559E2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929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624"/>
                </a:solidFill>
              </a:defRPr>
            </a:pPr>
            <a:r>
              <a:rPr sz="1650" b="0">
                <a:solidFill>
                  <a:srgbClr val="202624"/>
                </a:solidFill>
              </a:rPr>
              <a:t>The Android rating is acceptable on paper, but the angry reviews cluster around high-stress commute moments.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A93EA-39B4-44C6-8B24-F0C5E309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534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5345"/>
                </a:solidFill>
              </a:defRPr>
            </a:pPr>
            <a:r>
              <a:rPr sz="1650" b="1">
                <a:solidFill>
                  <a:srgbClr val="24534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DB9ADA-05F3-4937-A8B9-D857A544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929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624"/>
                </a:solidFill>
              </a:defRPr>
            </a:pPr>
            <a:r>
              <a:rPr sz="1650" b="0">
                <a:solidFill>
                  <a:srgbClr val="202624"/>
                </a:solidFill>
              </a:rPr>
              <a:t>Users complain when they cannot prove the ride exists, cannot trust the map, or get marked no-show without recovery.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244191-F64D-48A3-B813-12A23B88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534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5345"/>
                </a:solidFill>
              </a:defRPr>
            </a:pPr>
            <a:r>
              <a:rPr sz="1650" b="1">
                <a:solidFill>
                  <a:srgbClr val="24534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328E0-B509-423F-AB1A-DCBD0FAB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929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624"/>
                </a:solidFill>
              </a:defRPr>
            </a:pPr>
            <a:r>
              <a:rPr sz="1650" b="0">
                <a:solidFill>
                  <a:srgbClr val="202624"/>
                </a:solidFill>
              </a:rPr>
              <a:t>The problem cuts across product, routing, driver app, operations, and customer transport desks.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791B5-9711-419B-BC0B-FC69F50E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534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5345"/>
                </a:solidFill>
              </a:defRPr>
            </a:pPr>
            <a:r>
              <a:rPr sz="1650" b="1">
                <a:solidFill>
                  <a:srgbClr val="24534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76109-0FCB-4B74-94AA-F4E88DA9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929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624"/>
                </a:solidFill>
              </a:defRPr>
            </a:pPr>
            <a:r>
              <a:rPr sz="1650" b="0">
                <a:solidFill>
                  <a:srgbClr val="202624"/>
                </a:solidFill>
              </a:rPr>
              <a:t>A generic UX audit would miss the real issue: employees feel powerless when the commute fails.</a:t>
            </a:r>
          </a:p>
        </p:txBody>
      </p:sp>
    </p:spTree>
    <p:extLst>
      <p:ext uri="{BB962C8B-B14F-4D97-AF65-F5344CB8AC3E}">
        <p14:creationId xmlns:p14="http://schemas.microsoft.com/office/powerpoint/2010/main" val="1109364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2D10C9-6CE4-4246-A9B2-C85E980D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4726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47268"/>
                </a:solidFill>
              </a:defRPr>
            </a:pPr>
            <a:r>
              <a:rPr sz="975" b="1">
                <a:solidFill>
                  <a:srgbClr val="547268"/>
                </a:solidFill>
              </a:rPr>
              <a:t>MOVEINSYNC FDE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63EBC-C36C-4F7B-B341-FFF8BF58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F35"/>
                </a:solidFill>
              </a:defRPr>
            </a:pPr>
            <a:r>
              <a:rPr sz="2550" b="1">
                <a:solidFill>
                  <a:srgbClr val="153F35"/>
                </a:solidFill>
              </a:rPr>
              <a:t>What to fix first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D0912-B42B-444D-BAF6-5E8C0D80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45"/>
          </a:solidFill>
          <a:ln xmlns:a="http://schemas.openxmlformats.org/drawingml/2006/main" w="0">
            <a:solidFill>
              <a:srgbClr val="2453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8BC1C-33CC-43A4-AD96-92FBCB01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EDB2A-B792-4F1C-B074-BE360AB9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35"/>
                </a:solidFill>
              </a:defRPr>
            </a:pPr>
            <a:r>
              <a:rPr sz="1575" b="1">
                <a:solidFill>
                  <a:srgbClr val="153F35"/>
                </a:solidFill>
              </a:rPr>
              <a:t>Trip status card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63D11-7890-44F6-BB32-0DDF13A5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819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2624"/>
                </a:solidFill>
              </a:defRPr>
            </a:pPr>
            <a:r>
              <a:rPr sz="1275" b="0">
                <a:solidFill>
                  <a:srgbClr val="202624"/>
                </a:solidFill>
              </a:rPr>
              <a:t>Make the home screen answer one question clearly: do I have a ride, and what state is it in?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CA373-4E24-4595-B550-7EEA3529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698F2-509A-4E77-B0D8-BDF603F5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35"/>
                </a:solidFill>
              </a:defRPr>
            </a:pPr>
            <a:r>
              <a:rPr sz="1575" b="1">
                <a:solidFill>
                  <a:srgbClr val="153F35"/>
                </a:solidFill>
              </a:rPr>
              <a:t>No-show recovery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8687C6-8622-4155-83B4-9A676B8F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19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2624"/>
                </a:solidFill>
              </a:defRPr>
            </a:pPr>
            <a:r>
              <a:rPr sz="1275" b="0">
                <a:solidFill>
                  <a:srgbClr val="202624"/>
                </a:solidFill>
              </a:rPr>
              <a:t>Warn the employee near pickup, then offer a short recovery action before marking no-show.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326744-0610-484C-9383-9766F681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2A580-0F5D-4FB7-9E58-389BEA51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35"/>
                </a:solidFill>
              </a:defRPr>
            </a:pPr>
            <a:r>
              <a:rPr sz="1575" b="1">
                <a:solidFill>
                  <a:srgbClr val="153F35"/>
                </a:solidFill>
              </a:rPr>
              <a:t>Tracking freshness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BD160-1EBE-461D-9964-CC61A6B0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819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2624"/>
                </a:solidFill>
              </a:defRPr>
            </a:pPr>
            <a:r>
              <a:rPr sz="1275" b="0">
                <a:solidFill>
                  <a:srgbClr val="202624"/>
                </a:solidFill>
              </a:rPr>
              <a:t>Track location age and ETA error. Show last-updated time instead of pretending stale GPS is live.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5D458-9833-4EEA-90CC-AF178150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53F35"/>
                </a:solidFill>
              </a:defRPr>
            </a:pPr>
            <a:r>
              <a:rPr sz="1800" b="1">
                <a:solidFill>
                  <a:srgbClr val="153F35"/>
                </a:solidFill>
              </a:rPr>
              <a:t>First week output: prototype these flows, add instrumentation, and pilot with a small customer set.</a:t>
            </a:r>
          </a:p>
        </p:txBody>
      </p:sp>
    </p:spTree>
    <p:extLst>
      <p:ext uri="{BB962C8B-B14F-4D97-AF65-F5344CB8AC3E}">
        <p14:creationId xmlns:p14="http://schemas.microsoft.com/office/powerpoint/2010/main" val="4964307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EC2CFB-11A1-4663-9EAC-56A46CA8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4726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47268"/>
                </a:solidFill>
              </a:defRPr>
            </a:pPr>
            <a:r>
              <a:rPr sz="975" b="1">
                <a:solidFill>
                  <a:srgbClr val="547268"/>
                </a:solidFill>
              </a:rPr>
              <a:t>MOVEINSYNC FDE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DAECC-0666-4F70-939F-12B29353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F35"/>
                </a:solidFill>
              </a:defRPr>
            </a:pPr>
            <a:r>
              <a:rPr sz="2550" b="1">
                <a:solidFill>
                  <a:srgbClr val="153F35"/>
                </a:solidFill>
              </a:rPr>
              <a:t>Ratings Room operating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002CC-1488-4FFB-8899-4E1BB830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45"/>
          </a:solidFill>
          <a:ln xmlns:a="http://schemas.openxmlformats.org/drawingml/2006/main" w="0">
            <a:solidFill>
              <a:srgbClr val="2453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D97FB-5049-4D96-914D-5522F75E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534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5345"/>
                </a:solidFill>
              </a:defRPr>
            </a:pPr>
            <a:r>
              <a:rPr sz="1650" b="1">
                <a:solidFill>
                  <a:srgbClr val="245345"/>
                </a:solidFill>
              </a:rPr>
              <a:t>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D8D17-1102-4767-A047-2A89FF6A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00250"/>
            <a:ext cx="948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624"/>
                </a:solidFill>
              </a:defRPr>
            </a:pPr>
            <a:r>
              <a:rPr sz="1650" b="0">
                <a:solidFill>
                  <a:srgbClr val="202624"/>
                </a:solidFill>
              </a:rPr>
              <a:t>Ingest Play reviews, ratings, app version, device data, developer replies, and internal trip telemetry.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BE6FE-C2C4-4F15-BE79-04165476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534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5345"/>
                </a:solidFill>
              </a:defRPr>
            </a:pPr>
            <a:r>
              <a:rPr sz="1650" b="1">
                <a:solidFill>
                  <a:srgbClr val="245345"/>
                </a:solidFill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DDBFD-5EE9-4092-8BCD-7323FC9E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948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624"/>
                </a:solidFill>
              </a:defRPr>
            </a:pPr>
            <a:r>
              <a:rPr sz="1650" b="0">
                <a:solidFill>
                  <a:srgbClr val="202624"/>
                </a:solidFill>
              </a:rPr>
              <a:t>Tag every review by trip stage, product theme, severity, owner, and recovery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1902D-0722-4BBD-AE6A-DF5E84A5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534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5345"/>
                </a:solidFill>
              </a:defRPr>
            </a:pPr>
            <a:r>
              <a:rPr sz="1650" b="1">
                <a:solidFill>
                  <a:srgbClr val="245345"/>
                </a:solidFill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989D1-7819-410B-925A-11F8FBF5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948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624"/>
                </a:solidFill>
              </a:defRPr>
            </a:pPr>
            <a:r>
              <a:rPr sz="1650" b="0">
                <a:solidFill>
                  <a:srgbClr val="202624"/>
                </a:solidFill>
              </a:rPr>
              <a:t>Create tickets for severe themes such as stranded, stale GPS, OTP missing, wrong pickup, and server error.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F04A6-4695-4B42-AB4B-329FD5F6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245345"/>
                </a:solidFill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245345"/>
                </a:solidFill>
              </a:defRPr>
            </a:pPr>
            <a:r>
              <a:rPr sz="1650" b="1">
                <a:solidFill>
                  <a:srgbClr val="245345"/>
                </a:solidFill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FD7E8-85E2-4190-BDF8-473E01C2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57650"/>
            <a:ext cx="948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02624"/>
                </a:solidFill>
              </a:defRPr>
            </a:pPr>
            <a:r>
              <a:rPr sz="1650" b="0">
                <a:solidFill>
                  <a:srgbClr val="202624"/>
                </a:solidFill>
              </a:rPr>
              <a:t>Run a weekly review with Product, Engineering, Ops, and Customer Success using a weighted pain score.</a:t>
            </a:r>
          </a:p>
        </p:txBody>
      </p:sp>
    </p:spTree>
    <p:extLst>
      <p:ext uri="{BB962C8B-B14F-4D97-AF65-F5344CB8AC3E}">
        <p14:creationId xmlns:p14="http://schemas.microsoft.com/office/powerpoint/2010/main" val="8835762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58787-F46D-4F87-A011-6961CF94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547268"/>
                </a:solidFill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547268"/>
                </a:solidFill>
              </a:defRPr>
            </a:pPr>
            <a:r>
              <a:rPr sz="975" b="1">
                <a:solidFill>
                  <a:srgbClr val="547268"/>
                </a:solidFill>
              </a:rPr>
              <a:t>MOVEINSYNC FDE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B45FAB-FC2D-445C-BC31-0A0599E2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53F35"/>
                </a:solidFill>
              </a:defRPr>
            </a:pPr>
            <a:r>
              <a:rPr sz="2550" b="1">
                <a:solidFill>
                  <a:srgbClr val="153F35"/>
                </a:solidFill>
              </a:rPr>
              <a:t>30/60/90-day execution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6E11A-D64D-4270-96B8-CB1D77C2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9906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345"/>
          </a:solidFill>
          <a:ln xmlns:a="http://schemas.openxmlformats.org/drawingml/2006/main" w="0">
            <a:solidFill>
              <a:srgbClr val="2453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96757-ABA1-4E64-A40A-1E0CC73F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56E44-30D6-416E-882B-6A88BB21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35"/>
                </a:solidFill>
              </a:defRPr>
            </a:pPr>
            <a:r>
              <a:rPr sz="1575" b="1">
                <a:solidFill>
                  <a:srgbClr val="153F35"/>
                </a:solidFill>
              </a:rPr>
              <a:t>Days 1-30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F5A04-1A1A-4A92-A494-53A587F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819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2624"/>
                </a:solidFill>
              </a:defRPr>
            </a:pPr>
            <a:r>
              <a:rPr sz="1275" b="0">
                <a:solidFill>
                  <a:srgbClr val="202624"/>
                </a:solidFill>
              </a:rPr>
              <a:t>Pull 12 months of reviews, validate the taxonomy, launch daily digest, ship trip card and no-show pilot.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9E7E4A-29ED-41C1-8399-E06EBFA8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C550F-5AB3-46DD-92BA-B151B009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35"/>
                </a:solidFill>
              </a:defRPr>
            </a:pPr>
            <a:r>
              <a:rPr sz="1575" b="1">
                <a:solidFill>
                  <a:srgbClr val="153F35"/>
                </a:solidFill>
              </a:rPr>
              <a:t>Days 31-60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B964F-FF8F-4295-8272-0CF551F5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90800"/>
            <a:ext cx="2819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2624"/>
                </a:solidFill>
              </a:defRPr>
            </a:pPr>
            <a:r>
              <a:rPr sz="1275" b="0">
                <a:solidFill>
                  <a:srgbClr val="202624"/>
                </a:solidFill>
              </a:rPr>
              <a:t>Roll out to 25 percent of Android users, add low-network ride essentials, and track rating updates after replies.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ED50A-010D-4B65-81B5-308149C0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38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E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A3A21D-2BE9-4CFE-8041-013BA0D7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153F35"/>
                </a:solidFill>
              </a:defRPr>
            </a:pPr>
            <a:r>
              <a:rPr sz="1575" b="1">
                <a:solidFill>
                  <a:srgbClr val="153F35"/>
                </a:solidFill>
              </a:rPr>
              <a:t>Days 61-90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7F47D-DE90-4A05-83CD-8CC2B177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819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202624"/>
                </a:solidFill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202624"/>
                </a:solidFill>
              </a:defRPr>
            </a:pPr>
            <a:r>
              <a:rPr sz="1275" b="0">
                <a:solidFill>
                  <a:srgbClr val="202624"/>
                </a:solidFill>
              </a:rPr>
              <a:t>Full rollout, ethical in-app review prompts after successful trips, and productize Ratings Room.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60DB5B-D5FE-4B75-9EFE-B35DDFD6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9587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153F35"/>
                </a:solidFill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153F35"/>
                </a:solidFill>
              </a:defRPr>
            </a:pPr>
            <a:r>
              <a:rPr sz="1725" b="1">
                <a:solidFill>
                  <a:srgbClr val="153F35"/>
                </a:solidFill>
              </a:rPr>
              <a:t>Success metric: fewer fresh 1-star moments, higher recent rating average, faster owner assignment, and visible issue closure.</a:t>
            </a:r>
          </a:p>
        </p:txBody>
      </p:sp>
    </p:spTree>
    <p:extLst>
      <p:ext uri="{BB962C8B-B14F-4D97-AF65-F5344CB8AC3E}">
        <p14:creationId xmlns:p14="http://schemas.microsoft.com/office/powerpoint/2010/main" val="495213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2026-10-13T01:57:22.4010000Z</dcterms:created>
  <dcterms:modified xsi:type="dcterms:W3CDTF">2026-10-13T01:57:22.4010000Z</dcterms:modified>
</coreProperties>
</file>